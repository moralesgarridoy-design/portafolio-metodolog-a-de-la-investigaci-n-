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59" r:id="rId4"/>
    <p:sldId id="260" r:id="rId3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0FF"/>
    <a:srgbClr val="E4E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70"/>
    <p:restoredTop sz="95897"/>
  </p:normalViewPr>
  <p:slideViewPr>
    <p:cSldViewPr snapToGrid="0">
      <p:cViewPr varScale="1">
        <p:scale>
          <a:sx n="116" d="100"/>
          <a:sy n="116" d="100"/>
        </p:scale>
        <p:origin x="10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760B-8B5A-5F4E-8830-6C63F2D92039}" type="datetimeFigureOut">
              <a:rPr lang="es-MX" smtClean="0"/>
              <a:t>14/05/26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97CD-1767-A24B-AF2B-ADEF30D54F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2955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760B-8B5A-5F4E-8830-6C63F2D92039}" type="datetimeFigureOut">
              <a:rPr lang="es-MX" smtClean="0"/>
              <a:t>14/05/26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97CD-1767-A24B-AF2B-ADEF30D54F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362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760B-8B5A-5F4E-8830-6C63F2D92039}" type="datetimeFigureOut">
              <a:rPr lang="es-MX" smtClean="0"/>
              <a:t>14/05/26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97CD-1767-A24B-AF2B-ADEF30D54F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688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760B-8B5A-5F4E-8830-6C63F2D92039}" type="datetimeFigureOut">
              <a:rPr lang="es-MX" smtClean="0"/>
              <a:t>14/05/26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97CD-1767-A24B-AF2B-ADEF30D54F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001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760B-8B5A-5F4E-8830-6C63F2D92039}" type="datetimeFigureOut">
              <a:rPr lang="es-MX" smtClean="0"/>
              <a:t>14/05/26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97CD-1767-A24B-AF2B-ADEF30D54F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820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760B-8B5A-5F4E-8830-6C63F2D92039}" type="datetimeFigureOut">
              <a:rPr lang="es-MX" smtClean="0"/>
              <a:t>14/05/26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97CD-1767-A24B-AF2B-ADEF30D54F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195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760B-8B5A-5F4E-8830-6C63F2D92039}" type="datetimeFigureOut">
              <a:rPr lang="es-MX" smtClean="0"/>
              <a:t>14/05/26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97CD-1767-A24B-AF2B-ADEF30D54F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2732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760B-8B5A-5F4E-8830-6C63F2D92039}" type="datetimeFigureOut">
              <a:rPr lang="es-MX" smtClean="0"/>
              <a:t>14/05/26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97CD-1767-A24B-AF2B-ADEF30D54F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56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760B-8B5A-5F4E-8830-6C63F2D92039}" type="datetimeFigureOut">
              <a:rPr lang="es-MX" smtClean="0"/>
              <a:t>14/05/26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97CD-1767-A24B-AF2B-ADEF30D54F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029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760B-8B5A-5F4E-8830-6C63F2D92039}" type="datetimeFigureOut">
              <a:rPr lang="es-MX" smtClean="0"/>
              <a:t>14/05/26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97CD-1767-A24B-AF2B-ADEF30D54F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0801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760B-8B5A-5F4E-8830-6C63F2D92039}" type="datetimeFigureOut">
              <a:rPr lang="es-MX" smtClean="0"/>
              <a:t>14/05/26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C97CD-1767-A24B-AF2B-ADEF30D54F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72061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rgbClr val="EAF0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E760B-8B5A-5F4E-8830-6C63F2D92039}" type="datetimeFigureOut">
              <a:rPr lang="es-MX" smtClean="0"/>
              <a:t>14/05/26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C97CD-1767-A24B-AF2B-ADEF30D54F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909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166F98F8-445D-AD42-98F5-A61A4A019D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170" y="1347550"/>
            <a:ext cx="1043809" cy="941475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A03E2481-8EF6-E87B-59FA-2AE27C6D27BA}"/>
              </a:ext>
            </a:extLst>
          </p:cNvPr>
          <p:cNvSpPr/>
          <p:nvPr/>
        </p:nvSpPr>
        <p:spPr>
          <a:xfrm>
            <a:off x="0" y="6586694"/>
            <a:ext cx="9906000" cy="271306"/>
          </a:xfrm>
          <a:prstGeom prst="rect">
            <a:avLst/>
          </a:prstGeom>
          <a:gradFill flip="none" rotWithShape="1">
            <a:gsLst>
              <a:gs pos="19000">
                <a:schemeClr val="accent1">
                  <a:lumMod val="75000"/>
                </a:schemeClr>
              </a:gs>
              <a:gs pos="36000">
                <a:schemeClr val="accent1">
                  <a:lumMod val="75000"/>
                </a:schemeClr>
              </a:gs>
              <a:gs pos="75000">
                <a:schemeClr val="accent1">
                  <a:lumMod val="75000"/>
                </a:schemeClr>
              </a:gs>
              <a:gs pos="12000">
                <a:srgbClr val="00B05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BA704F3-3D59-F050-6816-F758F36423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2" t="9624" r="26087" b="9594"/>
          <a:stretch/>
        </p:blipFill>
        <p:spPr bwMode="auto">
          <a:xfrm>
            <a:off x="2339895" y="1414115"/>
            <a:ext cx="902423" cy="87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B4B1361-0784-E9DB-00E3-8B495B10DF2B}"/>
              </a:ext>
            </a:extLst>
          </p:cNvPr>
          <p:cNvSpPr txBox="1"/>
          <p:nvPr/>
        </p:nvSpPr>
        <p:spPr>
          <a:xfrm>
            <a:off x="115746" y="2892141"/>
            <a:ext cx="97902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Análisis de Olas de Calor en Xalapa, Veracruz mediante Series de Tiempo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2CD7401-1B53-6DAE-630F-B37801DBDE2C}"/>
              </a:ext>
            </a:extLst>
          </p:cNvPr>
          <p:cNvSpPr txBox="1"/>
          <p:nvPr/>
        </p:nvSpPr>
        <p:spPr>
          <a:xfrm>
            <a:off x="3515997" y="5381273"/>
            <a:ext cx="63900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Integrantes:</a:t>
            </a:r>
          </a:p>
          <a:p>
            <a:r>
              <a:t>Valentin De Jesús Hernández Martínez</a:t>
            </a:r>
          </a:p>
          <a:p>
            <a:r>
              <a:t>Yahyr Morales Garrido</a:t>
            </a:r>
          </a:p>
          <a:p>
            <a:r>
              <a:t>Mtra. Nora Guadalupe Sánchez Montero</a:t>
            </a:r>
          </a:p>
          <a:p>
            <a:r>
              <a:t>Mtra. Alma Rosa Córdova Aguilar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CBEDF66-0DDF-C53D-71DE-EE7A881F49A4}"/>
              </a:ext>
            </a:extLst>
          </p:cNvPr>
          <p:cNvSpPr txBox="1"/>
          <p:nvPr/>
        </p:nvSpPr>
        <p:spPr>
          <a:xfrm>
            <a:off x="115746" y="91885"/>
            <a:ext cx="990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chemeClr val="accent1">
                    <a:lumMod val="75000"/>
                  </a:schemeClr>
                </a:solidFill>
              </a:rPr>
              <a:t>XV Foro Internacional de</a:t>
            </a:r>
          </a:p>
          <a:p>
            <a:pPr algn="ctr"/>
            <a:r>
              <a:rPr lang="es-MX" sz="2800" b="1" dirty="0">
                <a:solidFill>
                  <a:schemeClr val="accent1">
                    <a:lumMod val="75000"/>
                  </a:schemeClr>
                </a:solidFill>
              </a:rPr>
              <a:t>Estadística Aplicada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0064DA8-1DB7-5F15-B0DB-558931A5D8A3}"/>
              </a:ext>
            </a:extLst>
          </p:cNvPr>
          <p:cNvSpPr txBox="1"/>
          <p:nvPr/>
        </p:nvSpPr>
        <p:spPr>
          <a:xfrm>
            <a:off x="2917" y="6640191"/>
            <a:ext cx="9172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hosphate Inline" panose="02000506050000020004" pitchFamily="2" charset="77"/>
              </a:rPr>
              <a:t>Universidad Veracruzana. Facultad de Estadística e Informática. Ingeniería en Ciencia de Datos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3D745CF-F081-732D-E6C5-874B749AA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1235773"/>
            <a:ext cx="1043809" cy="10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4038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olas de calor han incrementado en frecuencia e intensidad debido al cambio climático. En Xalapa se han registrado temperaturas máximas cada vez más elevadas, afectando la salud, el agua y las actividades económicas.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Planteamiento del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incremento gradual de las temperaturas máximas en Xalapa podría estar relacionado con el cambio climático y la urbanización, generando periodos de calor más intensos y prolongados.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Analizar el comportamiento de las temperaturas máximas en Xalapa mediante técnicas de series de tiempo para identificar tendencias, estacionalidad y variabilidad climática.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específicos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Identificar patrones estacionales.</a:t>
            </a:r>
          </a:p>
          <a:p>
            <a:r>
              <a:t>• Detectar anomalías térmicas.</a:t>
            </a:r>
          </a:p>
          <a:p>
            <a:r>
              <a:t>• Analizar tendencias de calentamiento.</a:t>
            </a:r>
          </a:p>
          <a:p>
            <a:r>
              <a:t>• Aplicar modelos SARIMA para pronósticos.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Obtención y procesamiento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datos fueron obtenidos de NASA POWER Data Access Viewer.</a:t>
            </a:r>
          </a:p>
          <a:p>
            <a:r>
              <a:t>Se analizaron 312 registros mensuales entre 2000 y 2025.</a:t>
            </a:r>
          </a:p>
          <a:p>
            <a:r>
              <a:t>Las variables fueron organizadas en una serie temporal continua.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descriptivo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Media: 19.43 °C</a:t>
            </a:r>
          </a:p>
          <a:p>
            <a:r>
              <a:t>• Mediana: 20.18 °C</a:t>
            </a:r>
          </a:p>
          <a:p>
            <a:r>
              <a:t>• Mínimo: 13.27 °C</a:t>
            </a:r>
          </a:p>
          <a:p>
            <a:r>
              <a:t>• Máximo: 28.62 °C</a:t>
            </a:r>
          </a:p>
          <a:p>
            <a:r>
              <a:t>• Desviación estándar: 2.76 °C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Exploración de los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observó una marcada estacionalidad anual.</a:t>
            </a:r>
          </a:p>
          <a:p>
            <a:r>
              <a:t>Las temperaturas más altas se presentan entre abril y junio.</a:t>
            </a:r>
          </a:p>
          <a:p>
            <a:r>
              <a:t>La distribución muestra ligera asimetría hacia temperaturas altas.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Estacionariedad y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prueba Dickey-Fuller indicó estacionariedad en media.</a:t>
            </a:r>
          </a:p>
          <a:p>
            <a:r>
              <a:t>El modelo seleccionado fue SARIMA (2,0,0)(1,1,1)12 con AIC = 845.48.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Pronóstico de temperaturas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modelo proyecta un comportamiento estacional similar al histórico.</a:t>
            </a:r>
          </a:p>
          <a:p>
            <a:r>
              <a:t>Se estima una ligera tendencia creciente de las temperaturas máximas.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temperaturas máximas en Xalapa muestran una tendencia de calentamiento.</a:t>
            </a:r>
          </a:p>
          <a:p>
            <a:r>
              <a:t>El modelo SARIMA presentó un buen ajuste y permitió generar pronósticos confiables.</a:t>
            </a:r>
          </a:p>
          <a:p>
            <a:r>
              <a:t>Es importante continuar monitoreando las olas de calor en la región.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NASA POWER Data Access Viewer</a:t>
            </a:r>
          </a:p>
          <a:p>
            <a:r>
              <a:t>• Forecasting: Principles and Practice</a:t>
            </a:r>
          </a:p>
          <a:p>
            <a:r>
              <a:t>• Climate Change 2023 – IPCC</a:t>
            </a:r>
          </a:p>
          <a:p>
            <a:r>
              <a:t>• R Foundation for Statistical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2944</TotalTime>
  <Words>120</Words>
  <Application>Microsoft Macintosh PowerPoint</Application>
  <PresentationFormat>A4 (210 x 297 mm)</PresentationFormat>
  <Paragraphs>25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Microsoft YaHei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8</cp:revision>
  <dcterms:created xsi:type="dcterms:W3CDTF">2025-10-06T20:14:51Z</dcterms:created>
  <dcterms:modified xsi:type="dcterms:W3CDTF">2026-05-15T21:04:39Z</dcterms:modified>
</cp:coreProperties>
</file>